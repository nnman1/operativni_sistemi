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slideLayouts/slideLayout12.xml" ContentType="application/vnd.openxmlformats-officedocument.presentationml.slideLayout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sr-Latn-ME" sz="1862" b="0" u="none" strike="noStrike">
                <a:solidFill>
                  <a:srgbClr val="595959"/>
                </a:solidFill>
                <a:uFillTx/>
                <a:latin typeface="Calibri"/>
              </a:rPr>
              <a:t>OS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dPt>
            <c:idx val="0"/>
            <c:bubble3D val="0"/>
            <c:spPr>
              <a:solidFill>
                <a:srgbClr val="5B9BD5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1-CED7-4C99-803A-672863195392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3-CED7-4C99-803A-672863195392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5-CED7-4C99-803A-67286319539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80">
                <a:solidFill>
                  <a:srgbClr val="FFFFFF"/>
                </a:solidFill>
                <a:round/>
              </a:ln>
            </c:spPr>
            <c:extLst>
              <c:ext xmlns:c16="http://schemas.microsoft.com/office/drawing/2014/chart" uri="{C3380CC4-5D6E-409C-BE32-E72D297353CC}">
                <c16:uniqueId val="{00000007-CED7-4C99-803A-672863195392}"/>
              </c:ext>
            </c:extLst>
          </c:dPt>
          <c:dLbls>
            <c:dLbl>
              <c:idx val="0"/>
              <c:spPr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1-CED7-4C99-803A-672863195392}"/>
                </c:ext>
              </c:extLst>
            </c:dLbl>
            <c:dLbl>
              <c:idx val="1"/>
              <c:spPr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3-CED7-4C99-803A-672863195392}"/>
                </c:ext>
              </c:extLst>
            </c:dLbl>
            <c:dLbl>
              <c:idx val="2"/>
              <c:spPr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5-CED7-4C99-803A-672863195392}"/>
                </c:ext>
              </c:extLst>
            </c:dLbl>
            <c:dLbl>
              <c:idx val="3"/>
              <c:spPr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Calibri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6="http://schemas.microsoft.com/office/drawing/2014/chart" uri="{C3380CC4-5D6E-409C-BE32-E72D297353CC}">
                  <c16:uniqueId val="{00000007-CED7-4C99-803A-6728631953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1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Microsoft Windows</c:v>
                </c:pt>
                <c:pt idx="1">
                  <c:v>macOS</c:v>
                </c:pt>
                <c:pt idx="2">
                  <c:v>Linux</c:v>
                </c:pt>
                <c:pt idx="3">
                  <c:v>Ostali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83.3</c:v>
                </c:pt>
                <c:pt idx="1">
                  <c:v>11.2</c:v>
                </c:pt>
                <c:pt idx="2">
                  <c:v>1.55</c:v>
                </c:pt>
                <c:pt idx="3">
                  <c:v>3.95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D7-4C99-803A-672863195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97" b="0" u="none" strike="noStrike">
              <a:solidFill>
                <a:srgbClr val="595959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 w="0"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91AE0971-3969-464F-8954-16BFF5385ED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>
            <a:normAutofit/>
          </a:bodyPr>
          <a:lstStyle/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C9BA2A-8305-4B7E-93D9-2DE2D235DEF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889920" y="365040"/>
            <a:ext cx="1463040" cy="61405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 anchorCtr="1">
            <a:noAutofit/>
          </a:bodyPr>
          <a:lstStyle/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38080" y="369360"/>
            <a:ext cx="8177760" cy="580644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anchor="t">
            <a:normAutofit/>
          </a:bodyPr>
          <a:lstStyle/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A110BC9-34D8-486F-96F7-587F0612B0B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4D51DD-456B-4AC4-B10B-308314D151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8ADB3D-2A4B-4E91-A1F0-FAEDC1F677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A47964-22CC-44F4-9CF8-20B825115B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411F30-B81F-4395-9402-D104127869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352860-64F9-4353-B727-D6F2C7C583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DC252FCB-AC41-43D1-8752-73AEF4F5355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880BE0B2-3460-4578-B9D4-2478390CC01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002B5AF7-A886-4F2B-9C07-B93533B0F2C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08749CA9-B8D9-4F9B-A8E1-4E19D44A3DB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lstStyle/>
          <a:p>
            <a:fld id="{E5E7EDA4-D6C6-439E-8CFD-64856A18EDE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EDB8D080-B1B4-40BC-A0DE-0FAAE3531C0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36E63FB4-EBEA-4420-81D5-6CB73C62FD2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1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A81C8B-3088-4706-91E0-E5410F3363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7987BB-2FF2-49B3-9620-58D4EC80DC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680230-6CC6-4B6B-BFD0-A9F8E0FF9A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D5152A-6458-459D-97E9-8D4D3FA8AD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4ABAF8-CFB6-4EAA-A09C-B5E0E0082F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9714B1-1BC8-4F7F-BA6E-F848AD860F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6E422E-7995-4AB4-8D00-620E28A077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5611D74-086F-4BCC-948D-2621053201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8992DB-D9FB-4524-9C4B-A932DC843B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5EF1596-09D4-40B6-9A1B-81B6BB0392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ubuntu.me/downloads/" TargetMode="External"/><Relationship Id="rId2" Type="http://schemas.openxmlformats.org/officeDocument/2006/relationships/hyperlink" Target="https://www.virtualbox.org/wiki/Downloads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41320" y="2103120"/>
            <a:ext cx="6949080" cy="155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Operativni sistemi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841320" y="3840480"/>
            <a:ext cx="6949080" cy="73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8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B, C i D smjer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val 52"/>
          <p:cNvSpPr/>
          <p:nvPr/>
        </p:nvSpPr>
        <p:spPr>
          <a:xfrm>
            <a:off x="8138160" y="1600200"/>
            <a:ext cx="3200040" cy="32000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OS</a:t>
            </a:r>
            <a:endParaRPr lang="en-U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Polaganje ispita</a:t>
            </a:r>
          </a:p>
        </p:txBody>
      </p:sp>
      <p:sp>
        <p:nvSpPr>
          <p:cNvPr id="77" name="Rounded Rectangle 53"/>
          <p:cNvSpPr/>
          <p:nvPr/>
        </p:nvSpPr>
        <p:spPr>
          <a:xfrm>
            <a:off x="841320" y="1325880"/>
            <a:ext cx="5120280" cy="35200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54"/>
          <p:cNvSpPr/>
          <p:nvPr/>
        </p:nvSpPr>
        <p:spPr>
          <a:xfrm>
            <a:off x="1161360" y="146304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B i C smjer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55"/>
          <p:cNvSpPr/>
          <p:nvPr/>
        </p:nvSpPr>
        <p:spPr>
          <a:xfrm>
            <a:off x="1161360" y="1965960"/>
            <a:ext cx="4480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3 provjere po 20 bodova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val 56"/>
          <p:cNvSpPr/>
          <p:nvPr/>
        </p:nvSpPr>
        <p:spPr>
          <a:xfrm>
            <a:off x="1161360" y="2606040"/>
            <a:ext cx="502560" cy="502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7"/>
          <p:cNvSpPr/>
          <p:nvPr/>
        </p:nvSpPr>
        <p:spPr>
          <a:xfrm>
            <a:off x="1892880" y="256032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UBUNTU – SHELL programiranje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58"/>
          <p:cNvSpPr/>
          <p:nvPr/>
        </p:nvSpPr>
        <p:spPr>
          <a:xfrm>
            <a:off x="1161360" y="3355920"/>
            <a:ext cx="502560" cy="502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9"/>
          <p:cNvSpPr/>
          <p:nvPr/>
        </p:nvSpPr>
        <p:spPr>
          <a:xfrm>
            <a:off x="1892880" y="331020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Docker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val 60"/>
          <p:cNvSpPr/>
          <p:nvPr/>
        </p:nvSpPr>
        <p:spPr>
          <a:xfrm>
            <a:off x="1161360" y="4105800"/>
            <a:ext cx="502560" cy="502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61"/>
          <p:cNvSpPr/>
          <p:nvPr/>
        </p:nvSpPr>
        <p:spPr>
          <a:xfrm>
            <a:off x="1892880" y="406008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Sistemsko C programiranje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62"/>
          <p:cNvSpPr/>
          <p:nvPr/>
        </p:nvSpPr>
        <p:spPr>
          <a:xfrm>
            <a:off x="6190560" y="1325880"/>
            <a:ext cx="5120280" cy="35200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63"/>
          <p:cNvSpPr/>
          <p:nvPr/>
        </p:nvSpPr>
        <p:spPr>
          <a:xfrm>
            <a:off x="6510600" y="1463040"/>
            <a:ext cx="44802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D smjer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4"/>
          <p:cNvSpPr/>
          <p:nvPr/>
        </p:nvSpPr>
        <p:spPr>
          <a:xfrm>
            <a:off x="6510600" y="1965960"/>
            <a:ext cx="448020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2 provjere po 30 poena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val 65"/>
          <p:cNvSpPr/>
          <p:nvPr/>
        </p:nvSpPr>
        <p:spPr>
          <a:xfrm>
            <a:off x="6510600" y="2606040"/>
            <a:ext cx="502560" cy="502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66"/>
          <p:cNvSpPr/>
          <p:nvPr/>
        </p:nvSpPr>
        <p:spPr>
          <a:xfrm>
            <a:off x="7242120" y="256032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UBUNTU – SHELL programiranje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val 67"/>
          <p:cNvSpPr/>
          <p:nvPr/>
        </p:nvSpPr>
        <p:spPr>
          <a:xfrm>
            <a:off x="6510600" y="3355920"/>
            <a:ext cx="502560" cy="5025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8"/>
          <p:cNvSpPr/>
          <p:nvPr/>
        </p:nvSpPr>
        <p:spPr>
          <a:xfrm>
            <a:off x="7242120" y="3310200"/>
            <a:ext cx="38858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Docker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9"/>
          <p:cNvSpPr/>
          <p:nvPr/>
        </p:nvSpPr>
        <p:spPr>
          <a:xfrm>
            <a:off x="841320" y="5029200"/>
            <a:ext cx="10515240" cy="56664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70"/>
          <p:cNvSpPr/>
          <p:nvPr/>
        </p:nvSpPr>
        <p:spPr>
          <a:xfrm>
            <a:off x="1097280" y="502920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+10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1"/>
          <p:cNvSpPr/>
          <p:nvPr/>
        </p:nvSpPr>
        <p:spPr>
          <a:xfrm>
            <a:off x="2194560" y="502920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Studenti koji na dvije provjere osvoje preko 10 poena i imaju ukupno više od 30 poena dobijaju 10 poena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72"/>
          <p:cNvSpPr/>
          <p:nvPr/>
        </p:nvSpPr>
        <p:spPr>
          <a:xfrm>
            <a:off x="841320" y="5687640"/>
            <a:ext cx="10515240" cy="56664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73"/>
          <p:cNvSpPr/>
          <p:nvPr/>
        </p:nvSpPr>
        <p:spPr>
          <a:xfrm>
            <a:off x="1097280" y="5687640"/>
            <a:ext cx="10054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30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4"/>
          <p:cNvSpPr/>
          <p:nvPr/>
        </p:nvSpPr>
        <p:spPr>
          <a:xfrm>
            <a:off x="2194560" y="5687640"/>
            <a:ext cx="89607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Završni ispit nosi 30 poena i polaže se usmeno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Operativni</a:t>
            </a:r>
            <a:r>
              <a:rPr lang="en-US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4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sistem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55"/>
          <p:cNvSpPr/>
          <p:nvPr/>
        </p:nvSpPr>
        <p:spPr>
          <a:xfrm>
            <a:off x="841320" y="1463040"/>
            <a:ext cx="10515240" cy="10054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Oval 56"/>
          <p:cNvSpPr/>
          <p:nvPr/>
        </p:nvSpPr>
        <p:spPr>
          <a:xfrm>
            <a:off x="1143000" y="1691640"/>
            <a:ext cx="548280" cy="5482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7"/>
          <p:cNvSpPr/>
          <p:nvPr/>
        </p:nvSpPr>
        <p:spPr>
          <a:xfrm>
            <a:off x="2011680" y="146304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Složen softverski sistem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58"/>
          <p:cNvSpPr/>
          <p:nvPr/>
        </p:nvSpPr>
        <p:spPr>
          <a:xfrm>
            <a:off x="841320" y="2633400"/>
            <a:ext cx="10515240" cy="10054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Oval 59"/>
          <p:cNvSpPr/>
          <p:nvPr/>
        </p:nvSpPr>
        <p:spPr>
          <a:xfrm>
            <a:off x="1143000" y="2862000"/>
            <a:ext cx="548280" cy="5482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60"/>
          <p:cNvSpPr/>
          <p:nvPr/>
        </p:nvSpPr>
        <p:spPr>
          <a:xfrm>
            <a:off x="2011680" y="263340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Upravlja hardware-om i software-om računara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ostvaruje vezu između njih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61"/>
          <p:cNvSpPr/>
          <p:nvPr/>
        </p:nvSpPr>
        <p:spPr>
          <a:xfrm>
            <a:off x="841320" y="3803760"/>
            <a:ext cx="10515240" cy="10054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Oval 62"/>
          <p:cNvSpPr/>
          <p:nvPr/>
        </p:nvSpPr>
        <p:spPr>
          <a:xfrm>
            <a:off x="1143000" y="4032360"/>
            <a:ext cx="548280" cy="5482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63"/>
          <p:cNvSpPr/>
          <p:nvPr/>
        </p:nvSpPr>
        <p:spPr>
          <a:xfrm>
            <a:off x="2011680" y="380376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Da bi aplikativni programi funkcionisali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nužno je postojanje operativnog sistema na računaru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64"/>
          <p:cNvSpPr/>
          <p:nvPr/>
        </p:nvSpPr>
        <p:spPr>
          <a:xfrm>
            <a:off x="841320" y="4974480"/>
            <a:ext cx="10515240" cy="10054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Oval 65"/>
          <p:cNvSpPr/>
          <p:nvPr/>
        </p:nvSpPr>
        <p:spPr>
          <a:xfrm>
            <a:off x="1143000" y="5203080"/>
            <a:ext cx="548280" cy="54828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66"/>
          <p:cNvSpPr/>
          <p:nvPr/>
        </p:nvSpPr>
        <p:spPr>
          <a:xfrm>
            <a:off x="2011680" y="497448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Pitanje kompatibilnosti software-a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3" descr="Operating system placement.svg"/>
          <p:cNvPicPr/>
          <p:nvPr/>
        </p:nvPicPr>
        <p:blipFill>
          <a:blip r:embed="rId2"/>
          <a:stretch/>
        </p:blipFill>
        <p:spPr>
          <a:xfrm>
            <a:off x="3931560" y="1916640"/>
            <a:ext cx="3209040" cy="4745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Резултат слика за what is operating system"/>
          <p:cNvPicPr/>
          <p:nvPr/>
        </p:nvPicPr>
        <p:blipFill>
          <a:blip r:embed="rId2"/>
          <a:stretch/>
        </p:blipFill>
        <p:spPr>
          <a:xfrm>
            <a:off x="3120120" y="1744560"/>
            <a:ext cx="5259240" cy="3987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Glavni zadaci OS-a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Upravljanje procesima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Upravljanje memorijom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Fajl sistemi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Dodatni software za uređaje (drajveri)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Umrežavanje (Networking)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Bezbjednost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Ulaz i izlaz (I/O)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Najpopularniji OS na računarima: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Microsoft Windows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MacOS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UNIX/Linux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Najpopularniji OS na mobilnim uređajima: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  <a:tabLst>
                <a:tab pos="0" algn="l"/>
              </a:tabLst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Android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  <a:tabLst>
                <a:tab pos="0" algn="l"/>
              </a:tabLst>
            </a:pPr>
            <a:r>
              <a:rPr lang="sr-Latn-ME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Računari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2" name="Chart 5"/>
          <p:cNvGraphicFramePr/>
          <p:nvPr/>
        </p:nvGraphicFramePr>
        <p:xfrm>
          <a:off x="2031840" y="2523600"/>
          <a:ext cx="6891480" cy="423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OS bez grafičkog korisničkog interfejsa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Primjer: MS-DOS, preteča današnjeg Windows-a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Picture 2" descr="Image result for ms-dos"/>
          <p:cNvPicPr/>
          <p:nvPr/>
        </p:nvPicPr>
        <p:blipFill>
          <a:blip r:embed="rId2"/>
          <a:stretch/>
        </p:blipFill>
        <p:spPr>
          <a:xfrm>
            <a:off x="2798280" y="2882880"/>
            <a:ext cx="4982400" cy="3741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Operativni sistem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 u današnjim verzijama sa interfejsom je moguće upravljati OS-om iz komandne linije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Interfejs komandne linije (Command Prompt Interface)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jedan od osnovnih interfejsa u Unix i Linux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“pomoćni” interfejs u Windows, podskup komandi Unix interfejsa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Obra</a:t>
            </a:r>
            <a:r>
              <a:rPr lang="sr-Latn-ME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đujemo rad iz komandne linije u Windows 10 i Windows 11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Pokretanje komandne linije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 načina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Win + R, upisati cmd, Enter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Start, ukucati cmd, izabrati Command Prompt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Windows 11: desni klik na Start, Terminal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Pokreće se program cmd.exe, interpretator komandi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75"/>
          <p:cNvSpPr/>
          <p:nvPr/>
        </p:nvSpPr>
        <p:spPr>
          <a:xfrm>
            <a:off x="841320" y="4754880"/>
            <a:ext cx="7314840" cy="292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Command Prompt</a:t>
            </a:r>
          </a:p>
        </p:txBody>
      </p:sp>
      <p:sp>
        <p:nvSpPr>
          <p:cNvPr id="131" name="Rectangle 76"/>
          <p:cNvSpPr/>
          <p:nvPr/>
        </p:nvSpPr>
        <p:spPr>
          <a:xfrm>
            <a:off x="841320" y="5047560"/>
            <a:ext cx="7314840" cy="1170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7308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Microsoft Windows [Version 10.0.xxxxx.xxxx]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(c) Microsoft Corporation. All rights reserved.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C:\Users\student&gt;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7"/>
          <p:cNvSpPr/>
          <p:nvPr/>
        </p:nvSpPr>
        <p:spPr>
          <a:xfrm>
            <a:off x="841320" y="62910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Ilustracija: Windows 10/11 komandna linija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Rad sa komandnom linijom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Izlaz, komanda exit + Enter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Pregled svih komandi, komanda help + Enter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Detaljni pregled svake komande: help ime_komande + Enter, ili ime_komande /?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Dio u [ ] nije obavezan prilikom zadavanja komande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78"/>
          <p:cNvSpPr/>
          <p:nvPr/>
        </p:nvSpPr>
        <p:spPr>
          <a:xfrm>
            <a:off x="841320" y="4526280"/>
            <a:ext cx="7863480" cy="292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Command Prompt</a:t>
            </a:r>
          </a:p>
        </p:txBody>
      </p:sp>
      <p:sp>
        <p:nvSpPr>
          <p:cNvPr id="136" name="Rectangle 79"/>
          <p:cNvSpPr/>
          <p:nvPr/>
        </p:nvSpPr>
        <p:spPr>
          <a:xfrm>
            <a:off x="841320" y="4818960"/>
            <a:ext cx="7863480" cy="153576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7308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C:\Users\student&gt;help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For more information on a specific command, type HELP command-name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ASSOC    Displays or modifies file extension associations.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ATTRIB   Displays or changes file attributes.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CD       Displays the name of or changes the current directory.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CLS      Clears the screen.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CCCCCC"/>
                </a:solidFill>
                <a:effectLst/>
                <a:uFillTx/>
                <a:latin typeface="Courier New"/>
              </a:rPr>
              <a:t>COPY     Copies one or more files to another location.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0"/>
          <p:cNvSpPr/>
          <p:nvPr/>
        </p:nvSpPr>
        <p:spPr>
          <a:xfrm>
            <a:off x="841320" y="64281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Ilustracija: Windows 10/11 komandna linija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</a:t>
            </a: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šti način zadavanja komandi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Komandna linija sastoji se od: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Imena komande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Parametara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Argumenata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"/>
            </a:pPr>
            <a:r>
              <a:rPr lang="sr-Latn-C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Za kraj dugme Enter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Space (blanko) razdvaja komponente u komandnoj liniji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Parametri počinju znakom /, sastoje se od jednog ili više simbola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Argumenti su često imena datoteka ili direktorijuma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rgbClr val="FF0000"/>
                </a:solidFill>
                <a:effectLst/>
                <a:uFillTx/>
                <a:latin typeface="Calibri"/>
              </a:rPr>
              <a:t>Primjeri važe za Windows 10 i 11; u starijim verzijama (npr. XP) komande i parametri mogu biti drugačiji.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</a:t>
            </a: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šti način zadavanja komandi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Interpreter pamti izvršene komande, kretanje kroz listu izvršenih komandi sa strelicama na gore (ranije izvršene) i dolje (kasnije izvršene)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Strelice lijevo i desno omogućavaju kretanje po trenutno zadatoj komandi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C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Komande se mogu zadavati malim ili velikim slovima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Opšte komande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cls, brisanje ekrana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ver, 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verzija</a:t>
            </a: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 operativnog sistema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date, prikazivanje/podešavanje datuma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time, prikazivanje/podešavanje vremena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color, postavljanje boje teksta i boje pozadine, 16 boja za tekst i pozadinu, željena kombinacija zadaje se sa dvije heksadecimalne cifre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ME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Primjer 1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89"/>
          <p:cNvSpPr/>
          <p:nvPr/>
        </p:nvSpPr>
        <p:spPr>
          <a:xfrm>
            <a:off x="841320" y="1554480"/>
            <a:ext cx="8229240" cy="2923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Command Prompt</a:t>
            </a:r>
          </a:p>
        </p:txBody>
      </p:sp>
      <p:sp>
        <p:nvSpPr>
          <p:cNvPr id="146" name="Rectangle 90"/>
          <p:cNvSpPr/>
          <p:nvPr/>
        </p:nvSpPr>
        <p:spPr>
          <a:xfrm>
            <a:off x="841320" y="1847160"/>
            <a:ext cx="8229240" cy="29988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7308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Microsoft Windows [Version 10.0.xxxxx.xxxx]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(c) Microsoft Corporation. All rights reserved.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C:\Users\student&gt;ver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Microsoft Windows [Version 10.0.xxxxx.xxxx]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C:\Users\student&gt;color 0A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3BE03B"/>
                </a:solidFill>
                <a:effectLst/>
                <a:uFillTx/>
                <a:latin typeface="Courier New"/>
              </a:rPr>
              <a:t>C:\Users\student&gt;cls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91"/>
          <p:cNvSpPr/>
          <p:nvPr/>
        </p:nvSpPr>
        <p:spPr>
          <a:xfrm>
            <a:off x="841320" y="49194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1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Ilustracija: Windows 10/11 komandna linija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sr-Latn-C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Komande za rad sa sistemom datoteka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65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start komanda - pokretanje zadate komande/programa u novom prozoru, prioritet programa određen sa parametrima: /low, /normal, /high, /realtime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dir - prikazuje sadržaj zadatog/tekućeg direktorijuma, prikazuju se imena i veličine datoteka, vrijeme i datum kreiranja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/</a:t>
            </a:r>
            <a:r>
              <a:rPr lang="en-US" sz="2800" b="0" u="none" strike="noStrike" dirty="0" err="1">
                <a:solidFill>
                  <a:schemeClr val="dk1"/>
                </a:solidFill>
                <a:effectLst/>
                <a:uFillTx/>
                <a:latin typeface="Calibri"/>
              </a:rPr>
              <a:t>izmjene</a:t>
            </a: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, ukupan broj datoteka, ukupan broj direktorijuma, veličina praznog prostora na disku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mkdir – pravi novi folder sa zadatim imenom u tekućem direktorijumu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copy – kopira jedan ili više fajlova u zadati direktorijum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CS" sz="28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cd – promjena direktorijuma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Opcije za korištenje Linux operativnog sistema</a:t>
            </a: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/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biosu omogućiti virtualizaciju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Instalira se kroz Microsoft Store na Windows 10 i Windows 11</a:t>
            </a: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Virtuelna Mašina (Virtual Box)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Radi na svim platformama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Zahtijeva više resursa</a:t>
            </a: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Dual boot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Pogodan za starije računare koji ne mogu da podrže virtuelizaciju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Nešto komplikovanija instalacija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u VirtualBox-u na Windows-u</a:t>
            </a: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3"/>
          <p:cNvSpPr/>
          <p:nvPr/>
        </p:nvSpPr>
        <p:spPr>
          <a:xfrm>
            <a:off x="841320" y="1691640"/>
            <a:ext cx="3382920" cy="301716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Oval 4"/>
          <p:cNvSpPr/>
          <p:nvPr/>
        </p:nvSpPr>
        <p:spPr>
          <a:xfrm>
            <a:off x="1115640" y="1965960"/>
            <a:ext cx="639720" cy="6397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1115640" y="27889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VirtualBox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1115640" y="333756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Preuzimanje i instalacija programa za virtuelizaciju na Windows-u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7"/>
          <p:cNvSpPr/>
          <p:nvPr/>
        </p:nvSpPr>
        <p:spPr>
          <a:xfrm>
            <a:off x="4453200" y="1691640"/>
            <a:ext cx="3382920" cy="301716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Oval 8"/>
          <p:cNvSpPr/>
          <p:nvPr/>
        </p:nvSpPr>
        <p:spPr>
          <a:xfrm>
            <a:off x="4727520" y="1965960"/>
            <a:ext cx="639720" cy="6397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9"/>
          <p:cNvSpPr/>
          <p:nvPr/>
        </p:nvSpPr>
        <p:spPr>
          <a:xfrm>
            <a:off x="4727520" y="27889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Virtuelna mašina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0"/>
          <p:cNvSpPr/>
          <p:nvPr/>
        </p:nvSpPr>
        <p:spPr>
          <a:xfrm>
            <a:off x="4727520" y="333756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Kreiranje prazne mašine: RAM, procesor, virtuelni disk, ISO slika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1"/>
          <p:cNvSpPr/>
          <p:nvPr/>
        </p:nvSpPr>
        <p:spPr>
          <a:xfrm>
            <a:off x="8065080" y="1691640"/>
            <a:ext cx="3382920" cy="301716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Oval 12"/>
          <p:cNvSpPr/>
          <p:nvPr/>
        </p:nvSpPr>
        <p:spPr>
          <a:xfrm>
            <a:off x="8339400" y="1965960"/>
            <a:ext cx="639720" cy="63972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3"/>
          <p:cNvSpPr/>
          <p:nvPr/>
        </p:nvSpPr>
        <p:spPr>
          <a:xfrm>
            <a:off x="8339400" y="27889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Lubuntu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4"/>
          <p:cNvSpPr/>
          <p:nvPr/>
        </p:nvSpPr>
        <p:spPr>
          <a:xfrm>
            <a:off x="8339400" y="3337560"/>
            <a:ext cx="28342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Pokretanje sa ISO slike i instalacija Lubuntu 24.04 LTS u mašinu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5"/>
          <p:cNvSpPr/>
          <p:nvPr/>
        </p:nvSpPr>
        <p:spPr>
          <a:xfrm>
            <a:off x="841320" y="512064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Lubuntu je lagana Ubuntu varijanta (LXQt okruženje), pogodna za virtuelne mašine i starije računare. Isti postupak važi i za Ubuntu ili Debian.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Odakle preuzeti instalaciju</a:t>
            </a: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3"/>
          <p:cNvSpPr/>
          <p:nvPr/>
        </p:nvSpPr>
        <p:spPr>
          <a:xfrm>
            <a:off x="841320" y="1371600"/>
            <a:ext cx="5120280" cy="23770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1115640" y="1554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1. VirtualBox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1115640" y="2103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sng" strike="noStrike">
                <a:solidFill>
                  <a:srgbClr val="0563C1"/>
                </a:solidFill>
                <a:effectLst/>
                <a:uFillTx/>
                <a:latin typeface="Arial"/>
                <a:hlinkClick r:id="rId2"/>
              </a:rPr>
              <a:t>https://www.virtualbox.org/wiki/Downloads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1115640" y="260604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Na stranici izabrati Windows hosts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Preuzima se VirtualBox-7.x.x-Win.exe (oko 100 MB)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7"/>
          <p:cNvSpPr/>
          <p:nvPr/>
        </p:nvSpPr>
        <p:spPr>
          <a:xfrm>
            <a:off x="6190560" y="1371600"/>
            <a:ext cx="5120280" cy="2377080"/>
          </a:xfrm>
          <a:prstGeom prst="roundRect">
            <a:avLst>
              <a:gd name="adj" fmla="val 6000"/>
            </a:avLst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6464880" y="155448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4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2. Lubuntu ISO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6464880" y="2103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1" u="sng" strike="noStrike">
                <a:solidFill>
                  <a:srgbClr val="0563C1"/>
                </a:solidFill>
                <a:effectLst/>
                <a:uFillTx/>
                <a:latin typeface="Arial"/>
                <a:hlinkClick r:id="rId3"/>
              </a:rPr>
              <a:t>https://lubuntu.me/downloads/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6464880" y="260604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Izabrati Lubuntu 24.04 LTS (64-bit, amd64)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Preuzima se lubuntu-24.04.x-desktop-amd64.iso (oko 3 GB); alternativa je torrent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841320" y="4114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Preporučeni resursi računara (host)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841320" y="47091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4 GB+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841320" y="530352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RAM (VM dobija 2–4 GB)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3520440" y="47091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2+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5"/>
          <p:cNvSpPr/>
          <p:nvPr/>
        </p:nvSpPr>
        <p:spPr>
          <a:xfrm>
            <a:off x="3520440" y="530352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jezgra procesora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6"/>
          <p:cNvSpPr/>
          <p:nvPr/>
        </p:nvSpPr>
        <p:spPr>
          <a:xfrm>
            <a:off x="6199560" y="47091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25 GB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7"/>
          <p:cNvSpPr/>
          <p:nvPr/>
        </p:nvSpPr>
        <p:spPr>
          <a:xfrm>
            <a:off x="6199560" y="530352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slobodnog prostora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8"/>
          <p:cNvSpPr/>
          <p:nvPr/>
        </p:nvSpPr>
        <p:spPr>
          <a:xfrm>
            <a:off x="8878680" y="470916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6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VT-x / AMD-V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9"/>
          <p:cNvSpPr/>
          <p:nvPr/>
        </p:nvSpPr>
        <p:spPr>
          <a:xfrm>
            <a:off x="8878680" y="530352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5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uključeno u BIOS-u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Instalacija VirtualBox-a</a:t>
            </a:r>
          </a:p>
        </p:txBody>
      </p:sp>
      <p:sp>
        <p:nvSpPr>
          <p:cNvPr id="188" name="Oval 3"/>
          <p:cNvSpPr/>
          <p:nvPr/>
        </p:nvSpPr>
        <p:spPr>
          <a:xfrm>
            <a:off x="841320" y="146304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1527120" y="141732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Pokrenuti preuzeti .exe (kao administrator)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Dvoklik na VirtualBox-7.x.x-Win.exe, potvrditi Windows upozorenje (Yes)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Oval 5"/>
          <p:cNvSpPr/>
          <p:nvPr/>
        </p:nvSpPr>
        <p:spPr>
          <a:xfrm>
            <a:off x="841320" y="225864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6"/>
          <p:cNvSpPr/>
          <p:nvPr/>
        </p:nvSpPr>
        <p:spPr>
          <a:xfrm>
            <a:off x="1527120" y="221292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Welcome → Next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Čarobnjak za instalaciju se pokreće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Oval 7"/>
          <p:cNvSpPr/>
          <p:nvPr/>
        </p:nvSpPr>
        <p:spPr>
          <a:xfrm>
            <a:off x="841320" y="305424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1527120" y="300852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Custom Setup → Next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Ostaviti sve komponente uključene i podrazumijevanu putanju C:\Program Files\Oracle\VirtualBox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val 9"/>
          <p:cNvSpPr/>
          <p:nvPr/>
        </p:nvSpPr>
        <p:spPr>
          <a:xfrm>
            <a:off x="841320" y="384948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0"/>
          <p:cNvSpPr/>
          <p:nvPr/>
        </p:nvSpPr>
        <p:spPr>
          <a:xfrm>
            <a:off x="1527120" y="380376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Warning: Network Interfaces → Yes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Instalacija privremeno prekida mrežnu vezu (normalno)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Oval 11"/>
          <p:cNvSpPr/>
          <p:nvPr/>
        </p:nvSpPr>
        <p:spPr>
          <a:xfrm>
            <a:off x="841320" y="464508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2"/>
          <p:cNvSpPr/>
          <p:nvPr/>
        </p:nvSpPr>
        <p:spPr>
          <a:xfrm>
            <a:off x="1527120" y="459936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Missing Dependencies / Python → Yes / Next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Ako se pojavi upozorenje, nastaviti; potrebni dodaci se instaliraju sami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Oval 13"/>
          <p:cNvSpPr/>
          <p:nvPr/>
        </p:nvSpPr>
        <p:spPr>
          <a:xfrm>
            <a:off x="841320" y="544068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4"/>
          <p:cNvSpPr/>
          <p:nvPr/>
        </p:nvSpPr>
        <p:spPr>
          <a:xfrm>
            <a:off x="1527120" y="5394960"/>
            <a:ext cx="982944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Install → Finish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Ostaviti čekirano „Start Oracle VirtualBox after installation“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Kreiranje VM: New</a:t>
            </a:r>
          </a:p>
        </p:txBody>
      </p:sp>
      <p:pic>
        <p:nvPicPr>
          <p:cNvPr id="202" name="Picture 3" descr="vb_mgr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03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VirtualBox Manager – početni ekran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Pokrenuti VirtualBox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Kliknuti dugme New (Nova mašina) na traci sa alatima.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Otvara se čarobnjak za kreiranje virtuelne mašine.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Kreiranje VM: ime i sistem</a:t>
            </a:r>
          </a:p>
        </p:txBody>
      </p:sp>
      <p:pic>
        <p:nvPicPr>
          <p:cNvPr id="207" name="Picture 3" descr="vb_name.jpg"/>
          <p:cNvPicPr/>
          <p:nvPr/>
        </p:nvPicPr>
        <p:blipFill>
          <a:blip r:embed="rId2"/>
          <a:stretch/>
        </p:blipFill>
        <p:spPr>
          <a:xfrm>
            <a:off x="841320" y="1463040"/>
            <a:ext cx="6949080" cy="304524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08" name="TextBox 4"/>
          <p:cNvSpPr/>
          <p:nvPr/>
        </p:nvSpPr>
        <p:spPr>
          <a:xfrm>
            <a:off x="841320" y="46000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New Virtual Machine – ime i operativni sistem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8092440" y="1600200"/>
            <a:ext cx="3382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VM Name: Lubuntu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OS, distribucija i verzija se sami prepoznaju (Linux, Ubuntu, Lubuntu 64-bit).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ISO Image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padajuća lista → Other… → izabrati preuzeti .iso.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Opciju Unattended Installation ne označavati (instaliramo ručno).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Next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Kreiranje VM: hardver i disk</a:t>
            </a:r>
          </a:p>
        </p:txBody>
      </p:sp>
      <p:pic>
        <p:nvPicPr>
          <p:cNvPr id="212" name="Picture 3" descr="vb_hw.jpg"/>
          <p:cNvPicPr/>
          <p:nvPr/>
        </p:nvPicPr>
        <p:blipFill>
          <a:blip r:embed="rId2"/>
          <a:stretch/>
        </p:blipFill>
        <p:spPr>
          <a:xfrm>
            <a:off x="841320" y="1463040"/>
            <a:ext cx="6949080" cy="304524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13" name="TextBox 4"/>
          <p:cNvSpPr/>
          <p:nvPr/>
        </p:nvSpPr>
        <p:spPr>
          <a:xfrm>
            <a:off x="841320" y="46000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Specify virtual hardware – memorija, procesori, disk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5"/>
          <p:cNvSpPr/>
          <p:nvPr/>
        </p:nvSpPr>
        <p:spPr>
          <a:xfrm>
            <a:off x="8092440" y="1600200"/>
            <a:ext cx="3382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Base Memory: 2048 MB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(ili 4096 MB ako računar ima dovoljno RAM-a)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Number of CPUs: 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Disk Size: 25 GB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Virtuelni disk je dinamički: zauzima prostor tek kad se popuni.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Next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Kreiranje VM: pregled</a:t>
            </a:r>
          </a:p>
        </p:txBody>
      </p:sp>
      <p:pic>
        <p:nvPicPr>
          <p:cNvPr id="217" name="Picture 3" descr="vb_sum.jpg"/>
          <p:cNvPicPr/>
          <p:nvPr/>
        </p:nvPicPr>
        <p:blipFill>
          <a:blip r:embed="rId2"/>
          <a:stretch/>
        </p:blipFill>
        <p:spPr>
          <a:xfrm>
            <a:off x="841320" y="1463040"/>
            <a:ext cx="6949080" cy="304524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18" name="TextBox 4"/>
          <p:cNvSpPr/>
          <p:nvPr/>
        </p:nvSpPr>
        <p:spPr>
          <a:xfrm>
            <a:off x="841320" y="46000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Summary – provjera podešavanja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8092440" y="1600200"/>
            <a:ext cx="33829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Provjeriti ime, tip sistema, memoriju, procesore i veličinu diska.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Ako nešto nije dobro: Back.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Finish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Gotova virtuelna mašina</a:t>
            </a:r>
          </a:p>
        </p:txBody>
      </p:sp>
      <p:pic>
        <p:nvPicPr>
          <p:cNvPr id="222" name="Picture 3" descr="vb_iso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23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VM Lubuntu sa priključenim ISO-om (Storage)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Lubuntu se pojavljuje na listi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Details prikazuje memoriju, procesore, disk i ISO u optičkom drajvu.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Ako ISO nedostaje: Settings → Storage → Empty → izabrati .iso.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Start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pokreće instalaciju.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Pokretanje instalacije</a:t>
            </a:r>
          </a:p>
        </p:txBody>
      </p:sp>
      <p:pic>
        <p:nvPicPr>
          <p:cNvPr id="227" name="Picture 3" descr="01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28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Lubuntu live okruženje nakon pokretanja sa ISO slike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Označiti mašinu i kliknuti Start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Mašina se pokreće sa ISO slike.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Pojavljuje se početni ekran: Try Lubuntu ili Install Lubuntu.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Izabrati Install Lubuntu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Instalater: dobrodošlica</a:t>
            </a:r>
          </a:p>
        </p:txBody>
      </p:sp>
      <p:pic>
        <p:nvPicPr>
          <p:cNvPr id="232" name="Picture 3" descr="02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33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Lubuntu installer – Welcome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Izabrati jezik instalacije (npr. American English).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Upozorenje o napajanju se može ignorisati (virtuelna mašina).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Lokacija i tastatura</a:t>
            </a: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Picture 3" descr="03.jpg"/>
          <p:cNvPicPr/>
          <p:nvPr/>
        </p:nvPicPr>
        <p:blipFill>
          <a:blip r:embed="rId2"/>
          <a:stretch/>
        </p:blipFill>
        <p:spPr>
          <a:xfrm>
            <a:off x="841320" y="1554480"/>
            <a:ext cx="5120280" cy="320004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38" name="TextBox 4"/>
          <p:cNvSpPr/>
          <p:nvPr/>
        </p:nvSpPr>
        <p:spPr>
          <a:xfrm>
            <a:off x="841320" y="48463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Location – vremenska zona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5" descr="04.jpg"/>
          <p:cNvPicPr/>
          <p:nvPr/>
        </p:nvPicPr>
        <p:blipFill>
          <a:blip r:embed="rId3"/>
          <a:stretch/>
        </p:blipFill>
        <p:spPr>
          <a:xfrm>
            <a:off x="6190560" y="1554480"/>
            <a:ext cx="5120280" cy="320004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40" name="TextBox 6"/>
          <p:cNvSpPr/>
          <p:nvPr/>
        </p:nvSpPr>
        <p:spPr>
          <a:xfrm>
            <a:off x="6190560" y="48463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Keyboard – raspored tastature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7"/>
          <p:cNvSpPr/>
          <p:nvPr/>
        </p:nvSpPr>
        <p:spPr>
          <a:xfrm>
            <a:off x="841320" y="534924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Potvrditi predloženu vremensku zonu i raspored tastature (za naše tastature provjeriti da li je izabran odgovarajući raspored), pa Next.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Vrsta instalacije</a:t>
            </a: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Picture 3" descr="05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45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Customize – izbor paketa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Normal Installation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preglednik, kancelarijski paketi, mediji – preporučeno.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Minimal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samo radno okruženje, manje prostora.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Ostaviti ostale opcije isključene i kliknuti Next.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Particionisanje diska</a:t>
            </a: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9" name="Picture 3" descr="06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50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Partitions – izbor načina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Erase disk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Briše samo virtuelni disk mašine – prava datoteka i particije na Windows-u nisu ugrožene.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Ostaviti ext4 i Next.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Korisnički nalog</a:t>
            </a: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Picture 3" descr="07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55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Users – podaci o korisniku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Puno 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Korisničko ime za prijavu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Ime računara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Lozinka (unijeti dvaput)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Zelene kvačice znače da je polje ispravno, zatim Next.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Pregled prije instalacije</a:t>
            </a: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Picture 3" descr="08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60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Summary – šta će se uraditi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Provjeriti lokaciju, tastaturu i particije.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Kliknuti Install, pa u prozoru za potvrdu Install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Instalacija je u toku</a:t>
            </a: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Picture 3" descr="11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65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Install – napredak instalacije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Instalacija traje oko 10–20 minuta, zavisno od računara i interneta.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Prikazuje se traka napretka.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Završetak instalacije</a:t>
            </a: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9" name="Picture 3" descr="12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70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Poruka nakon Done: uklanjanje instalacionog medija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Na kraju se prikazuje „All done“: ostaviti čekirano Restart now i kliknuti Done.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Kada se traži uklanjanje medija, pritisnuti Enter.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Ako se ponovo pokrene instalater: Devices → Optical Drives → Remove disk from virtual drive.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Prvo pokretanje Lubuntu-a</a:t>
            </a: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3" descr="15.jpg"/>
          <p:cNvPicPr/>
          <p:nvPr/>
        </p:nvPicPr>
        <p:blipFill>
          <a:blip r:embed="rId2"/>
          <a:stretch/>
        </p:blipFill>
        <p:spPr>
          <a:xfrm>
            <a:off x="841320" y="1463040"/>
            <a:ext cx="6400440" cy="4000320"/>
          </a:xfrm>
          <a:prstGeom prst="rect">
            <a:avLst/>
          </a:prstGeom>
          <a:noFill/>
          <a:ln w="9525">
            <a:solidFill>
              <a:srgbClr val="999999"/>
            </a:solidFill>
            <a:round/>
          </a:ln>
        </p:spPr>
      </p:pic>
      <p:sp>
        <p:nvSpPr>
          <p:cNvPr id="275" name="TextBox 4"/>
          <p:cNvSpPr/>
          <p:nvPr/>
        </p:nvSpPr>
        <p:spPr>
          <a:xfrm>
            <a:off x="841320" y="55548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Arial"/>
              </a:rPr>
              <a:t>Lubuntu desktop i terminal (Ctrl+Alt+T)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5"/>
          <p:cNvSpPr/>
          <p:nvPr/>
        </p:nvSpPr>
        <p:spPr>
          <a:xfrm>
            <a:off x="7589520" y="1600200"/>
            <a:ext cx="3840120" cy="43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Prijaviti se korisničkim imenom i lozinkom.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Terminal otvaramo sa Ctrl+Alt+T.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Provjera verzije: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cat /etc/os-release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Ovdje počinje rad sa shell-om.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99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Nakon instalacije</a:t>
            </a: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Oval 3"/>
          <p:cNvSpPr/>
          <p:nvPr/>
        </p:nvSpPr>
        <p:spPr>
          <a:xfrm>
            <a:off x="841320" y="150876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1527120" y="1463040"/>
            <a:ext cx="98294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Ažurirati sistem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sudo apt update &amp;&amp; sudo apt upgrade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Oval 5"/>
          <p:cNvSpPr/>
          <p:nvPr/>
        </p:nvSpPr>
        <p:spPr>
          <a:xfrm>
            <a:off x="841320" y="240480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6"/>
          <p:cNvSpPr/>
          <p:nvPr/>
        </p:nvSpPr>
        <p:spPr>
          <a:xfrm>
            <a:off x="1527120" y="2359080"/>
            <a:ext cx="98294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Instalirati dodatke za goste (Guest Additions)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sudo apt install virtualbox-guest-utils virtualbox-guest-x11 – zatim restart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Oval 7"/>
          <p:cNvSpPr/>
          <p:nvPr/>
        </p:nvSpPr>
        <p:spPr>
          <a:xfrm>
            <a:off x="841320" y="330084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8"/>
          <p:cNvSpPr/>
          <p:nvPr/>
        </p:nvSpPr>
        <p:spPr>
          <a:xfrm>
            <a:off x="1527120" y="3255120"/>
            <a:ext cx="98294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Uključiti dijeljenje clipboard-a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Devices → Shared Clipboard → Bidirectional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Oval 9"/>
          <p:cNvSpPr/>
          <p:nvPr/>
        </p:nvSpPr>
        <p:spPr>
          <a:xfrm>
            <a:off x="841320" y="419724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0"/>
          <p:cNvSpPr/>
          <p:nvPr/>
        </p:nvSpPr>
        <p:spPr>
          <a:xfrm>
            <a:off x="1527120" y="4151520"/>
            <a:ext cx="98294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Napraviti snapshot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Machine → Take Snapshot – siguran povratak ako nešto pokvarimo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Oval 11"/>
          <p:cNvSpPr/>
          <p:nvPr/>
        </p:nvSpPr>
        <p:spPr>
          <a:xfrm>
            <a:off x="841320" y="5093280"/>
            <a:ext cx="456840" cy="4568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2"/>
          <p:cNvSpPr/>
          <p:nvPr/>
        </p:nvSpPr>
        <p:spPr>
          <a:xfrm>
            <a:off x="1527120" y="5047560"/>
            <a:ext cx="98294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1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Isključivanje mašine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222222"/>
                </a:solidFill>
                <a:effectLst/>
                <a:uFillTx/>
                <a:latin typeface="Arial"/>
              </a:rPr>
              <a:t>Izabrati Shut Down unutar Lubuntu-a, ne gasiti prozor VirtualBox-a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1690</Words>
  <Application>Microsoft Office PowerPoint</Application>
  <PresentationFormat>Widescreen</PresentationFormat>
  <Paragraphs>295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37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Operativni sistemi</vt:lpstr>
      <vt:lpstr>Polaganje ispita</vt:lpstr>
      <vt:lpstr>Operativni sistem</vt:lpstr>
      <vt:lpstr>Operativni sistem</vt:lpstr>
      <vt:lpstr>Operativni sistem</vt:lpstr>
      <vt:lpstr>Operativni sistem</vt:lpstr>
      <vt:lpstr>Operativni sistem</vt:lpstr>
      <vt:lpstr>Operativni sistem</vt:lpstr>
      <vt:lpstr>Operativni sistem</vt:lpstr>
      <vt:lpstr>Operativni sistem</vt:lpstr>
      <vt:lpstr>Pokretanje komandne linije</vt:lpstr>
      <vt:lpstr>Rad sa komandnom linijom</vt:lpstr>
      <vt:lpstr>Opšti način zadavanja komandi</vt:lpstr>
      <vt:lpstr>Opšti način zadavanja komandi</vt:lpstr>
      <vt:lpstr>Opšte komande</vt:lpstr>
      <vt:lpstr>Primjer 1</vt:lpstr>
      <vt:lpstr>Komande za rad sa sistemom datoteka</vt:lpstr>
      <vt:lpstr>Opcije za korištenje Linux operativnog sistema</vt:lpstr>
      <vt:lpstr>Linux u VirtualBox-u na Windows-u</vt:lpstr>
      <vt:lpstr>Odakle preuzeti instalaciju</vt:lpstr>
      <vt:lpstr>Instalacija VirtualBox-a</vt:lpstr>
      <vt:lpstr>Kreiranje VM: New</vt:lpstr>
      <vt:lpstr>Kreiranje VM: ime i sistem</vt:lpstr>
      <vt:lpstr>Kreiranje VM: hardver i disk</vt:lpstr>
      <vt:lpstr>Kreiranje VM: pregled</vt:lpstr>
      <vt:lpstr>Gotova virtuelna mašina</vt:lpstr>
      <vt:lpstr>Pokretanje instalacije</vt:lpstr>
      <vt:lpstr>Instalater: dobrodošlica</vt:lpstr>
      <vt:lpstr>Lokacija i tastatura</vt:lpstr>
      <vt:lpstr>Vrsta instalacije</vt:lpstr>
      <vt:lpstr>Particionisanje diska</vt:lpstr>
      <vt:lpstr>Korisnički nalog</vt:lpstr>
      <vt:lpstr>Pregled prije instalacije</vt:lpstr>
      <vt:lpstr>Instalacija je u toku</vt:lpstr>
      <vt:lpstr>Završetak instalacije</vt:lpstr>
      <vt:lpstr>Prvo pokretanje Lubuntu-a</vt:lpstr>
      <vt:lpstr>Nakon instalacije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Operativni sistemi</dc:title>
  <dc:subject/>
  <dc:creator>Luka Bulatovic</dc:creator>
  <dc:description/>
  <cp:lastModifiedBy>velibor dosljak</cp:lastModifiedBy>
  <cp:revision>47</cp:revision>
  <dcterms:created xsi:type="dcterms:W3CDTF">2017-09-24T13:38:08Z</dcterms:created>
  <dcterms:modified xsi:type="dcterms:W3CDTF">2026-09-22T12:56:24Z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